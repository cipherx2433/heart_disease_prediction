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474720" cy="3474720"/>
          </a:xfrm>
          <a:prstGeom prst="ellipse">
            <a:avLst/>
          </a:prstGeom>
          <a:solidFill>
            <a:srgbClr val="E63946">
              <a:alpha val="12000"/>
            </a:srgbClr>
          </a:solidFill>
          <a:ln w="12700">
            <a:solidFill>
              <a:srgbClr val="E63946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-274320"/>
            <a:ext cx="2560320" cy="2560320"/>
          </a:xfrm>
          <a:prstGeom prst="ellipse">
            <a:avLst/>
          </a:prstGeom>
          <a:solidFill>
            <a:srgbClr val="E63946">
              <a:alpha val="22000"/>
            </a:srgbClr>
          </a:solidFill>
          <a:ln w="12700">
            <a:solidFill>
              <a:srgbClr val="E63946">
                <a:alpha val="3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0292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5029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</a:rPr>
              <a:t>MACHINE LEARNING PROJECT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20040" y="1143000"/>
            <a:ext cx="8503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</a:t>
            </a:r>
            <a:endParaRPr lang="en-US" sz="6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320040" y="33832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8DADC"/>
                </a:solidFill>
              </a:rPr>
              <a:t>Predicting cardiac risk using LightGBM &amp; Optuna on 630,000 patient records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20040" y="4114800"/>
            <a:ext cx="8503920" cy="22860"/>
          </a:xfrm>
          <a:prstGeom prst="rect">
            <a:avLst/>
          </a:prstGeom>
          <a:solidFill>
            <a:srgbClr val="457B9D">
              <a:alpha val="60000"/>
            </a:srgbClr>
          </a:solidFill>
          <a:ln w="12700">
            <a:solidFill>
              <a:srgbClr val="457B9D">
                <a:alpha val="6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FA6B2"/>
                </a:solidFill>
              </a:rPr>
              <a:t>Mohit Ranjan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14800" y="42062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A6B2"/>
                </a:solidFill>
              </a:rPr>
              <a:t>Python  ·  LightGBM  ·  XGBoost  ·  Optuna  ·  Scikit-learn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63946"/>
                </a:solidFill>
              </a:rPr>
              <a:t>PROJECT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What &amp; Why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011680" cy="3017520"/>
          </a:xfrm>
          <a:prstGeom prst="rect">
            <a:avLst/>
          </a:prstGeom>
          <a:solidFill>
            <a:srgbClr val="152233"/>
          </a:solidFill>
          <a:ln w="12700">
            <a:solidFill>
              <a:srgbClr val="457B9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201168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002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4048" y="219456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Problem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84048" y="2651760"/>
            <a:ext cx="1792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</a:rPr>
              <a:t>Classify whether a patient has heart disease (Presence / Absence) from clinical features.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450592" y="1417320"/>
            <a:ext cx="2011680" cy="3017520"/>
          </a:xfrm>
          <a:prstGeom prst="rect">
            <a:avLst/>
          </a:prstGeom>
          <a:solidFill>
            <a:srgbClr val="152233"/>
          </a:solidFill>
          <a:ln w="12700">
            <a:solidFill>
              <a:srgbClr val="457B9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50592" y="1417320"/>
            <a:ext cx="201168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752" y="160020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60320" y="219456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Dataset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560320" y="2651760"/>
            <a:ext cx="1792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</a:rPr>
              <a:t>630,000 patient records · 13 clinical features · Sourced from Kaggle competition data.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626864" y="1417320"/>
            <a:ext cx="2011680" cy="3017520"/>
          </a:xfrm>
          <a:prstGeom prst="rect">
            <a:avLst/>
          </a:prstGeom>
          <a:solidFill>
            <a:srgbClr val="152233"/>
          </a:solidFill>
          <a:ln w="12700">
            <a:solidFill>
              <a:srgbClr val="457B9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26864" y="1417320"/>
            <a:ext cx="201168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024" y="160020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36592" y="219456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Approach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4736592" y="2651760"/>
            <a:ext cx="1792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</a:rPr>
              <a:t>Gradient-boosted trees (LightGBM / XGBoost) with Optuna Bayesian hyperparameter search.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803136" y="1417320"/>
            <a:ext cx="2011680" cy="3017520"/>
          </a:xfrm>
          <a:prstGeom prst="rect">
            <a:avLst/>
          </a:prstGeom>
          <a:solidFill>
            <a:srgbClr val="152233"/>
          </a:solidFill>
          <a:ln w="12700">
            <a:solidFill>
              <a:srgbClr val="457B9D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803136" y="1417320"/>
            <a:ext cx="201168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0296" y="160020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12864" y="219456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Impact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912864" y="2651760"/>
            <a:ext cx="1792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</a:rPr>
              <a:t>Supports clinicians in early cardiac-risk screening, enabling proactive care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57B9D"/>
                </a:solidFill>
              </a:rPr>
              <a:t>DATASET &amp; FEATURES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13 Clinical Signals · 630K Records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920240" cy="960120"/>
          </a:xfrm>
          <a:prstGeom prst="rect">
            <a:avLst/>
          </a:prstGeom>
          <a:solidFill>
            <a:srgbClr val="1B2A3B"/>
          </a:solidFill>
          <a:ln w="12700">
            <a:solidFill>
              <a:srgbClr val="457B9D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</a:rPr>
              <a:t>630K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6B2"/>
                </a:solidFill>
              </a:rPr>
              <a:t>Patient Records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87168" y="1325880"/>
            <a:ext cx="1920240" cy="960120"/>
          </a:xfrm>
          <a:prstGeom prst="rect">
            <a:avLst/>
          </a:prstGeom>
          <a:solidFill>
            <a:srgbClr val="1B2A3B"/>
          </a:solidFill>
          <a:ln w="12700">
            <a:solidFill>
              <a:srgbClr val="457B9D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87168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</a:rPr>
              <a:t>13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87168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6B2"/>
                </a:solidFill>
              </a:rPr>
              <a:t>Features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08576" y="1325880"/>
            <a:ext cx="1920240" cy="960120"/>
          </a:xfrm>
          <a:prstGeom prst="rect">
            <a:avLst/>
          </a:prstGeom>
          <a:solidFill>
            <a:srgbClr val="1B2A3B"/>
          </a:solidFill>
          <a:ln w="12700">
            <a:solidFill>
              <a:srgbClr val="457B9D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</a:rPr>
              <a:t>55%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08576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6B2"/>
                </a:solidFill>
              </a:rPr>
              <a:t>Absence Class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29984" y="1325880"/>
            <a:ext cx="1920240" cy="960120"/>
          </a:xfrm>
          <a:prstGeom prst="rect">
            <a:avLst/>
          </a:prstGeom>
          <a:solidFill>
            <a:srgbClr val="1B2A3B"/>
          </a:solidFill>
          <a:ln w="12700">
            <a:solidFill>
              <a:srgbClr val="457B9D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9984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</a:rPr>
              <a:t>45%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29984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6B2"/>
                </a:solidFill>
              </a:rPr>
              <a:t>Presence Class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DADC"/>
                </a:solidFill>
              </a:rPr>
              <a:t>Input Features: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73152" cy="7315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28803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AEE"/>
                </a:solidFill>
              </a:rPr>
              <a:t>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218688"/>
            <a:ext cx="73152" cy="7315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1729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AEE"/>
                </a:solidFill>
              </a:rPr>
              <a:t>Sex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511296"/>
            <a:ext cx="73152" cy="7315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46557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AEE"/>
                </a:solidFill>
              </a:rPr>
              <a:t>Chest Pain Type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803904"/>
            <a:ext cx="73152" cy="7315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37581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AEE"/>
                </a:solidFill>
              </a:rPr>
              <a:t>Blood Pressure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096512"/>
            <a:ext cx="73152" cy="7315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40507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AEE"/>
                </a:solidFill>
              </a:rPr>
              <a:t>Cholesterol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389120"/>
            <a:ext cx="73152" cy="7315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43434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AEE"/>
                </a:solidFill>
              </a:rPr>
              <a:t>Fasting Blood Sugar (&gt;120)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681728"/>
            <a:ext cx="73152" cy="7315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46360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AEE"/>
                </a:solidFill>
              </a:rPr>
              <a:t>EKG Results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2926080"/>
            <a:ext cx="73152" cy="7315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10912" y="28803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AEE"/>
                </a:solidFill>
              </a:rPr>
              <a:t>Max Heart Rate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3218688"/>
            <a:ext cx="73152" cy="7315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10912" y="31729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AEE"/>
                </a:solidFill>
              </a:rPr>
              <a:t>Exercise Angina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46320" y="3511296"/>
            <a:ext cx="73152" cy="7315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10912" y="346557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AEE"/>
                </a:solidFill>
              </a:rPr>
              <a:t>ST Depression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3803904"/>
            <a:ext cx="73152" cy="7315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10912" y="37581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AEE"/>
                </a:solidFill>
              </a:rPr>
              <a:t>Slope of ST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46320" y="4096512"/>
            <a:ext cx="73152" cy="7315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10912" y="40507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AEE"/>
                </a:solidFill>
              </a:rPr>
              <a:t>Number of Vessels (Fluoro)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46320" y="4389120"/>
            <a:ext cx="73152" cy="7315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10912" y="43434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AEE"/>
                </a:solidFill>
              </a:rPr>
              <a:t>Thallium Scan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63946"/>
                </a:solidFill>
              </a:rPr>
              <a:t>ML PIPELINE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End-to-End Workflow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1371600"/>
            <a:ext cx="1600200" cy="3200400"/>
          </a:xfrm>
          <a:prstGeom prst="rect">
            <a:avLst/>
          </a:prstGeom>
          <a:solidFill>
            <a:srgbClr val="152233"/>
          </a:solidFill>
          <a:ln w="12700">
            <a:solidFill>
              <a:srgbClr val="457B9D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371600"/>
            <a:ext cx="1600200" cy="457200"/>
          </a:xfrm>
          <a:prstGeom prst="rect">
            <a:avLst/>
          </a:prstGeom>
          <a:solidFill>
            <a:srgbClr val="457B9D">
              <a:alpha val="70000"/>
            </a:srgbClr>
          </a:solidFill>
          <a:ln w="12700">
            <a:solidFill>
              <a:srgbClr val="457B9D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3716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6596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01752" y="2560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Ingestion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01752" y="315468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DADC"/>
                </a:solidFill>
              </a:rPr>
              <a:t>Load 630K rows from CSV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DADC"/>
                </a:solidFill>
              </a:rPr>
              <a:t>Drop ID column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DADC"/>
                </a:solidFill>
              </a:rPr>
              <a:t>Inspect dtypes &amp; nulls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828800" y="2468880"/>
            <a:ext cx="155448" cy="274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84248" y="1371600"/>
            <a:ext cx="1600200" cy="3200400"/>
          </a:xfrm>
          <a:prstGeom prst="rect">
            <a:avLst/>
          </a:prstGeom>
          <a:solidFill>
            <a:srgbClr val="152233"/>
          </a:solidFill>
          <a:ln w="12700">
            <a:solidFill>
              <a:srgbClr val="457B9D">
                <a:alpha val="35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984248" y="1371600"/>
            <a:ext cx="1600200" cy="457200"/>
          </a:xfrm>
          <a:prstGeom prst="rect">
            <a:avLst/>
          </a:prstGeom>
          <a:solidFill>
            <a:srgbClr val="457B9D">
              <a:alpha val="70000"/>
            </a:srgbClr>
          </a:solidFill>
          <a:ln w="12700">
            <a:solidFill>
              <a:srgbClr val="457B9D">
                <a:alpha val="4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984248" y="13716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888" y="196596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057400" y="2560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EDA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057400" y="315468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DADC"/>
                </a:solidFill>
              </a:rPr>
              <a:t>Class distribution check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DADC"/>
                </a:solidFill>
              </a:rPr>
              <a:t>Feature correlation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DADC"/>
                </a:solidFill>
              </a:rPr>
              <a:t>Outlier inspection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584448" y="2468880"/>
            <a:ext cx="155448" cy="274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739896" y="1371600"/>
            <a:ext cx="1600200" cy="3200400"/>
          </a:xfrm>
          <a:prstGeom prst="rect">
            <a:avLst/>
          </a:prstGeom>
          <a:solidFill>
            <a:srgbClr val="152233"/>
          </a:solidFill>
          <a:ln w="12700">
            <a:solidFill>
              <a:srgbClr val="457B9D">
                <a:alpha val="35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739896" y="1371600"/>
            <a:ext cx="1600200" cy="457200"/>
          </a:xfrm>
          <a:prstGeom prst="rect">
            <a:avLst/>
          </a:prstGeom>
          <a:solidFill>
            <a:srgbClr val="457B9D">
              <a:alpha val="70000"/>
            </a:srgbClr>
          </a:solidFill>
          <a:ln w="12700">
            <a:solidFill>
              <a:srgbClr val="457B9D">
                <a:alpha val="40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739896" y="13716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1965960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813048" y="2560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Preprocessing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3813048" y="315468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DADC"/>
                </a:solidFill>
              </a:rPr>
              <a:t>Stratified train/test split (80/20)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DADC"/>
                </a:solidFill>
              </a:rPr>
              <a:t>Label encoding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DADC"/>
                </a:solidFill>
              </a:rPr>
              <a:t>StandardScaler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5340096" y="2468880"/>
            <a:ext cx="155448" cy="274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495544" y="1371600"/>
            <a:ext cx="1600200" cy="3200400"/>
          </a:xfrm>
          <a:prstGeom prst="rect">
            <a:avLst/>
          </a:prstGeom>
          <a:solidFill>
            <a:srgbClr val="152233"/>
          </a:solidFill>
          <a:ln w="12700">
            <a:solidFill>
              <a:srgbClr val="457B9D">
                <a:alpha val="3500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495544" y="1371600"/>
            <a:ext cx="1600200" cy="457200"/>
          </a:xfrm>
          <a:prstGeom prst="rect">
            <a:avLst/>
          </a:prstGeom>
          <a:solidFill>
            <a:srgbClr val="457B9D">
              <a:alpha val="70000"/>
            </a:srgbClr>
          </a:solidFill>
          <a:ln w="12700">
            <a:solidFill>
              <a:srgbClr val="457B9D">
                <a:alpha val="4000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495544" y="13716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184" y="1965960"/>
            <a:ext cx="502920" cy="5029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568696" y="2560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 Training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5568696" y="315468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DADC"/>
                </a:solidFill>
              </a:rPr>
              <a:t>LightGBM classifier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DADC"/>
                </a:solidFill>
              </a:rPr>
              <a:t>K-Fold cross-validation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DADC"/>
                </a:solidFill>
              </a:rPr>
              <a:t>Optuna tuning (XGB)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7095744" y="2468880"/>
            <a:ext cx="155448" cy="274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7251192" y="1371600"/>
            <a:ext cx="1600200" cy="3200400"/>
          </a:xfrm>
          <a:prstGeom prst="rect">
            <a:avLst/>
          </a:prstGeom>
          <a:solidFill>
            <a:srgbClr val="152233"/>
          </a:solidFill>
          <a:ln w="12700">
            <a:solidFill>
              <a:srgbClr val="457B9D">
                <a:alpha val="35000"/>
              </a:srgbClr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7251192" y="1371600"/>
            <a:ext cx="1600200" cy="457200"/>
          </a:xfrm>
          <a:prstGeom prst="rect">
            <a:avLst/>
          </a:prstGeom>
          <a:solidFill>
            <a:srgbClr val="457B9D">
              <a:alpha val="70000"/>
            </a:srgbClr>
          </a:solidFill>
          <a:ln w="12700">
            <a:solidFill>
              <a:srgbClr val="457B9D">
                <a:alpha val="40000"/>
              </a:srgbClr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7251192" y="13716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05</a:t>
            </a:r>
            <a:endParaRPr lang="en-US" sz="20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9832" y="1965960"/>
            <a:ext cx="502920" cy="5029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324344" y="2560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Evaluation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7324344" y="315468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DADC"/>
                </a:solidFill>
              </a:rPr>
              <a:t>ROC-AUC score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DADC"/>
                </a:solidFill>
              </a:rPr>
              <a:t>Accuracy metric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DADC"/>
                </a:solidFill>
              </a:rPr>
              <a:t>Feature importance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57B9D"/>
                </a:solidFill>
              </a:rPr>
              <a:t>MODELS &amp; TUNING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LightGBM + Optuna Optimization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023360" cy="3291840"/>
          </a:xfrm>
          <a:prstGeom prst="rect">
            <a:avLst/>
          </a:prstGeom>
          <a:solidFill>
            <a:srgbClr val="152233"/>
          </a:solidFill>
          <a:ln w="12700">
            <a:solidFill>
              <a:srgbClr val="457B9D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71600"/>
            <a:ext cx="4023360" cy="54864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087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508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LightGBM Classifier</a:t>
            </a:r>
            <a:endParaRPr lang="en-US" sz="1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4884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21031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AEE"/>
                </a:solidFill>
              </a:rPr>
              <a:t>Gradient-boosted decision tree framework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496312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5800" y="24505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AEE"/>
                </a:solidFill>
              </a:rPr>
              <a:t>K-Fold cross-validation for robust evaluation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843784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85800" y="279806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AEE"/>
                </a:solidFill>
              </a:rPr>
              <a:t>Fast training on large tabular datasets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191256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5800" y="314553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AEE"/>
                </a:solidFill>
              </a:rPr>
              <a:t>Leaf-wise tree growth strategy</a:t>
            </a:r>
            <a:endParaRPr lang="en-US" sz="11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538728"/>
            <a:ext cx="201168" cy="20116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85800" y="349300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AEE"/>
                </a:solidFill>
              </a:rPr>
              <a:t>Handles class imbalance efficiently</a:t>
            </a:r>
            <a:endParaRPr lang="en-US" sz="11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886200"/>
            <a:ext cx="201168" cy="20116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85800" y="38404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AEE"/>
                </a:solidFill>
              </a:rPr>
              <a:t>Built-in feature importance ranking</a:t>
            </a:r>
            <a:endParaRPr lang="en-US" sz="1100" dirty="0"/>
          </a:p>
        </p:txBody>
      </p:sp>
      <p:sp>
        <p:nvSpPr>
          <p:cNvPr id="21" name="Shape 12"/>
          <p:cNvSpPr/>
          <p:nvPr/>
        </p:nvSpPr>
        <p:spPr>
          <a:xfrm>
            <a:off x="4846320" y="1371600"/>
            <a:ext cx="4023360" cy="3291840"/>
          </a:xfrm>
          <a:prstGeom prst="rect">
            <a:avLst/>
          </a:prstGeom>
          <a:solidFill>
            <a:srgbClr val="152233"/>
          </a:solidFill>
          <a:ln w="12700">
            <a:solidFill>
              <a:srgbClr val="E63946">
                <a:alpha val="50000"/>
              </a:srgbClr>
            </a:solidFill>
            <a:prstDash val="solid"/>
          </a:ln>
        </p:spPr>
      </p:sp>
      <p:sp>
        <p:nvSpPr>
          <p:cNvPr id="22" name="Shape 13"/>
          <p:cNvSpPr/>
          <p:nvPr/>
        </p:nvSpPr>
        <p:spPr>
          <a:xfrm>
            <a:off x="4846320" y="1371600"/>
            <a:ext cx="402336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1508760"/>
            <a:ext cx="457200" cy="4572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577840" y="1508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Optuna + XGBoost Tuning</a:t>
            </a:r>
            <a:endParaRPr lang="en-US" sz="1600" dirty="0"/>
          </a:p>
        </p:txBody>
      </p:sp>
      <p:sp>
        <p:nvSpPr>
          <p:cNvPr id="25" name="Shape 15"/>
          <p:cNvSpPr/>
          <p:nvPr/>
        </p:nvSpPr>
        <p:spPr>
          <a:xfrm>
            <a:off x="4983480" y="2148840"/>
            <a:ext cx="3749040" cy="274320"/>
          </a:xfrm>
          <a:prstGeom prst="rect">
            <a:avLst/>
          </a:prstGeom>
          <a:solidFill>
            <a:srgbClr val="1B2A3B"/>
          </a:solidFill>
          <a:ln w="12700">
            <a:solidFill>
              <a:srgbClr val="457B9D">
                <a:alpha val="40000"/>
              </a:srgbClr>
            </a:solidFill>
            <a:prstDash val="solid"/>
          </a:ln>
        </p:spPr>
      </p:sp>
      <p:sp>
        <p:nvSpPr>
          <p:cNvPr id="26" name="Text 16"/>
          <p:cNvSpPr/>
          <p:nvPr/>
        </p:nvSpPr>
        <p:spPr>
          <a:xfrm>
            <a:off x="5074920" y="21671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ADC"/>
                </a:solidFill>
              </a:rPr>
              <a:t>n_estimators</a:t>
            </a:r>
            <a:endParaRPr lang="en-US" sz="1000" dirty="0"/>
          </a:p>
        </p:txBody>
      </p:sp>
      <p:sp>
        <p:nvSpPr>
          <p:cNvPr id="27" name="Text 17"/>
          <p:cNvSpPr/>
          <p:nvPr/>
        </p:nvSpPr>
        <p:spPr>
          <a:xfrm>
            <a:off x="7040880" y="216712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1FAEE"/>
                </a:solidFill>
              </a:rPr>
              <a:t>Optimized via trial</a:t>
            </a:r>
            <a:endParaRPr lang="en-US" sz="1000" dirty="0"/>
          </a:p>
        </p:txBody>
      </p:sp>
      <p:sp>
        <p:nvSpPr>
          <p:cNvPr id="28" name="Shape 18"/>
          <p:cNvSpPr/>
          <p:nvPr/>
        </p:nvSpPr>
        <p:spPr>
          <a:xfrm>
            <a:off x="4983480" y="2496312"/>
            <a:ext cx="3749040" cy="274320"/>
          </a:xfrm>
          <a:prstGeom prst="rect">
            <a:avLst/>
          </a:prstGeom>
          <a:solidFill>
            <a:srgbClr val="1B2A3B"/>
          </a:solidFill>
          <a:ln w="12700">
            <a:solidFill>
              <a:srgbClr val="457B9D">
                <a:alpha val="40000"/>
              </a:srgbClr>
            </a:solidFill>
            <a:prstDash val="solid"/>
          </a:ln>
        </p:spPr>
      </p:sp>
      <p:sp>
        <p:nvSpPr>
          <p:cNvPr id="29" name="Text 19"/>
          <p:cNvSpPr/>
          <p:nvPr/>
        </p:nvSpPr>
        <p:spPr>
          <a:xfrm>
            <a:off x="5074920" y="25146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ADC"/>
                </a:solidFill>
              </a:rPr>
              <a:t>max_depth</a:t>
            </a:r>
            <a:endParaRPr lang="en-US" sz="1000" dirty="0"/>
          </a:p>
        </p:txBody>
      </p:sp>
      <p:sp>
        <p:nvSpPr>
          <p:cNvPr id="30" name="Text 20"/>
          <p:cNvSpPr/>
          <p:nvPr/>
        </p:nvSpPr>
        <p:spPr>
          <a:xfrm>
            <a:off x="7040880" y="251460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1FAEE"/>
                </a:solidFill>
              </a:rPr>
              <a:t>Bayesian search</a:t>
            </a:r>
            <a:endParaRPr lang="en-US" sz="1000" dirty="0"/>
          </a:p>
        </p:txBody>
      </p:sp>
      <p:sp>
        <p:nvSpPr>
          <p:cNvPr id="31" name="Shape 21"/>
          <p:cNvSpPr/>
          <p:nvPr/>
        </p:nvSpPr>
        <p:spPr>
          <a:xfrm>
            <a:off x="4983480" y="2843784"/>
            <a:ext cx="3749040" cy="274320"/>
          </a:xfrm>
          <a:prstGeom prst="rect">
            <a:avLst/>
          </a:prstGeom>
          <a:solidFill>
            <a:srgbClr val="1B2A3B"/>
          </a:solidFill>
          <a:ln w="12700">
            <a:solidFill>
              <a:srgbClr val="457B9D">
                <a:alpha val="40000"/>
              </a:srgbClr>
            </a:solidFill>
            <a:prstDash val="solid"/>
          </a:ln>
        </p:spPr>
      </p:sp>
      <p:sp>
        <p:nvSpPr>
          <p:cNvPr id="32" name="Text 22"/>
          <p:cNvSpPr/>
          <p:nvPr/>
        </p:nvSpPr>
        <p:spPr>
          <a:xfrm>
            <a:off x="5074920" y="28620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ADC"/>
                </a:solidFill>
              </a:rPr>
              <a:t>learning_rate</a:t>
            </a:r>
            <a:endParaRPr lang="en-US" sz="1000" dirty="0"/>
          </a:p>
        </p:txBody>
      </p:sp>
      <p:sp>
        <p:nvSpPr>
          <p:cNvPr id="33" name="Text 23"/>
          <p:cNvSpPr/>
          <p:nvPr/>
        </p:nvSpPr>
        <p:spPr>
          <a:xfrm>
            <a:off x="7040880" y="28620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1FAEE"/>
                </a:solidFill>
              </a:rPr>
              <a:t>Log-uniform range</a:t>
            </a:r>
            <a:endParaRPr lang="en-US" sz="1000" dirty="0"/>
          </a:p>
        </p:txBody>
      </p:sp>
      <p:sp>
        <p:nvSpPr>
          <p:cNvPr id="34" name="Shape 24"/>
          <p:cNvSpPr/>
          <p:nvPr/>
        </p:nvSpPr>
        <p:spPr>
          <a:xfrm>
            <a:off x="4983480" y="3191256"/>
            <a:ext cx="3749040" cy="274320"/>
          </a:xfrm>
          <a:prstGeom prst="rect">
            <a:avLst/>
          </a:prstGeom>
          <a:solidFill>
            <a:srgbClr val="1B2A3B"/>
          </a:solidFill>
          <a:ln w="12700">
            <a:solidFill>
              <a:srgbClr val="457B9D">
                <a:alpha val="40000"/>
              </a:srgbClr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5074920" y="32095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ADC"/>
                </a:solidFill>
              </a:rPr>
              <a:t>subsample</a:t>
            </a:r>
            <a:endParaRPr lang="en-US" sz="1000" dirty="0"/>
          </a:p>
        </p:txBody>
      </p:sp>
      <p:sp>
        <p:nvSpPr>
          <p:cNvPr id="36" name="Text 26"/>
          <p:cNvSpPr/>
          <p:nvPr/>
        </p:nvSpPr>
        <p:spPr>
          <a:xfrm>
            <a:off x="7040880" y="320954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1FAEE"/>
                </a:solidFill>
              </a:rPr>
              <a:t>0.6 – 1.0</a:t>
            </a:r>
            <a:endParaRPr lang="en-US" sz="1000" dirty="0"/>
          </a:p>
        </p:txBody>
      </p:sp>
      <p:sp>
        <p:nvSpPr>
          <p:cNvPr id="37" name="Shape 27"/>
          <p:cNvSpPr/>
          <p:nvPr/>
        </p:nvSpPr>
        <p:spPr>
          <a:xfrm>
            <a:off x="4983480" y="3538728"/>
            <a:ext cx="3749040" cy="274320"/>
          </a:xfrm>
          <a:prstGeom prst="rect">
            <a:avLst/>
          </a:prstGeom>
          <a:solidFill>
            <a:srgbClr val="1B2A3B"/>
          </a:solidFill>
          <a:ln w="12700">
            <a:solidFill>
              <a:srgbClr val="457B9D">
                <a:alpha val="40000"/>
              </a:srgbClr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5074920" y="35570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ADC"/>
                </a:solidFill>
              </a:rPr>
              <a:t>colsample_bytree</a:t>
            </a:r>
            <a:endParaRPr lang="en-US" sz="1000" dirty="0"/>
          </a:p>
        </p:txBody>
      </p:sp>
      <p:sp>
        <p:nvSpPr>
          <p:cNvPr id="39" name="Text 29"/>
          <p:cNvSpPr/>
          <p:nvPr/>
        </p:nvSpPr>
        <p:spPr>
          <a:xfrm>
            <a:off x="7040880" y="355701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1FAEE"/>
                </a:solidFill>
              </a:rPr>
              <a:t>0.6 – 1.0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4983480" y="3886200"/>
            <a:ext cx="3749040" cy="274320"/>
          </a:xfrm>
          <a:prstGeom prst="rect">
            <a:avLst/>
          </a:prstGeom>
          <a:solidFill>
            <a:srgbClr val="1B2A3B"/>
          </a:solidFill>
          <a:ln w="12700">
            <a:solidFill>
              <a:srgbClr val="457B9D">
                <a:alpha val="40000"/>
              </a:srgbClr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5074920" y="39044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ADC"/>
                </a:solidFill>
              </a:rPr>
              <a:t>Strategy</a:t>
            </a:r>
            <a:endParaRPr lang="en-US" sz="1000" dirty="0"/>
          </a:p>
        </p:txBody>
      </p:sp>
      <p:sp>
        <p:nvSpPr>
          <p:cNvPr id="42" name="Text 32"/>
          <p:cNvSpPr/>
          <p:nvPr/>
        </p:nvSpPr>
        <p:spPr>
          <a:xfrm>
            <a:off x="7040880" y="390448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1FAEE"/>
                </a:solidFill>
              </a:rPr>
              <a:t>Minimize val loss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63946"/>
                </a:solidFill>
              </a:rPr>
              <a:t>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Model Performance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1965960" cy="1737360"/>
          </a:xfrm>
          <a:prstGeom prst="rect">
            <a:avLst/>
          </a:prstGeom>
          <a:solidFill>
            <a:srgbClr val="152233"/>
          </a:solidFill>
          <a:ln w="25400">
            <a:solidFill>
              <a:srgbClr val="E63946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196596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6002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3946"/>
                </a:solidFill>
              </a:rPr>
              <a:t>~91%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" y="2286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ROC-AUC Score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651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6B2"/>
                </a:solidFill>
              </a:rPr>
              <a:t>LightGBM (K-Fold avg)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417320"/>
            <a:ext cx="1965960" cy="1737360"/>
          </a:xfrm>
          <a:prstGeom prst="rect">
            <a:avLst/>
          </a:prstGeom>
          <a:solidFill>
            <a:srgbClr val="152233"/>
          </a:solidFill>
          <a:ln w="25400">
            <a:solidFill>
              <a:srgbClr val="457B9D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417320"/>
            <a:ext cx="1965960" cy="54864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6002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57B9D"/>
                </a:solidFill>
              </a:rPr>
              <a:t>~89%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468880" y="2286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Accuracy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2651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6B2"/>
                </a:solidFill>
              </a:rPr>
              <a:t>Hold-out test set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0" y="1417320"/>
            <a:ext cx="1965960" cy="1737360"/>
          </a:xfrm>
          <a:prstGeom prst="rect">
            <a:avLst/>
          </a:prstGeom>
          <a:solidFill>
            <a:srgbClr val="152233"/>
          </a:solidFill>
          <a:ln w="25400">
            <a:solidFill>
              <a:srgbClr val="A8DADC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417320"/>
            <a:ext cx="1965960" cy="54864"/>
          </a:xfrm>
          <a:prstGeom prst="rect">
            <a:avLst/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6002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8DADC"/>
                </a:solidFill>
              </a:rPr>
              <a:t>80/20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617720" y="2286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Train/Test Split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17720" y="2651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6B2"/>
                </a:solidFill>
              </a:rPr>
              <a:t>Stratified sampling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66560" y="1417320"/>
            <a:ext cx="1965960" cy="1737360"/>
          </a:xfrm>
          <a:prstGeom prst="rect">
            <a:avLst/>
          </a:prstGeom>
          <a:solidFill>
            <a:srgbClr val="152233"/>
          </a:solidFill>
          <a:ln w="25400">
            <a:solidFill>
              <a:srgbClr val="F6C90E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417320"/>
            <a:ext cx="1965960" cy="54864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6002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6C90E"/>
                </a:solidFill>
              </a:rPr>
              <a:t>Optuna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766560" y="2286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Tuning Engine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66560" y="2651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6B2"/>
                </a:solidFill>
              </a:rPr>
              <a:t>Bayesian optimization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ADC"/>
                </a:solidFill>
              </a:rPr>
              <a:t>Key Predictive Features (relative importance):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37490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1FAEE"/>
                </a:solidFill>
              </a:rPr>
              <a:t>Thallium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063240" y="3785616"/>
            <a:ext cx="4754880" cy="155448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63240" y="3785616"/>
            <a:ext cx="4184294" cy="15544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20686" y="37490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B2"/>
                </a:solidFill>
              </a:rPr>
              <a:t>88%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0050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1FAEE"/>
                </a:solidFill>
              </a:rPr>
              <a:t>Number of Vessels (Fluoro)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063240" y="4041648"/>
            <a:ext cx="4754880" cy="155448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63240" y="4041648"/>
            <a:ext cx="3708806" cy="15544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45198" y="40050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B2"/>
                </a:solidFill>
              </a:rPr>
              <a:t>78%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26110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1FAEE"/>
                </a:solidFill>
              </a:rPr>
              <a:t>Chest Pain Type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063240" y="4297680"/>
            <a:ext cx="4754880" cy="155448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063240" y="4297680"/>
            <a:ext cx="3185770" cy="15544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22162" y="426110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B2"/>
                </a:solidFill>
              </a:rPr>
              <a:t>67%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51713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1FAEE"/>
                </a:solidFill>
              </a:rPr>
              <a:t>ST Depression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063240" y="4553712"/>
            <a:ext cx="4754880" cy="155448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063240" y="4553712"/>
            <a:ext cx="2757830" cy="15544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94222" y="45171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B2"/>
                </a:solidFill>
              </a:rPr>
              <a:t>58%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" y="47731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1FAEE"/>
                </a:solidFill>
              </a:rPr>
              <a:t>Age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063240" y="4809744"/>
            <a:ext cx="4754880" cy="155448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063240" y="4809744"/>
            <a:ext cx="2139696" cy="15544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76088" y="47731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B2"/>
                </a:solidFill>
              </a:rPr>
              <a:t>45%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57B9D"/>
                </a:solidFill>
              </a:rPr>
              <a:t>TECH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Tools &amp; Libraries Used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1920240" cy="1417320"/>
          </a:xfrm>
          <a:prstGeom prst="rect">
            <a:avLst/>
          </a:prstGeom>
          <a:solidFill>
            <a:srgbClr val="152233"/>
          </a:solidFill>
          <a:ln w="12700">
            <a:solidFill>
              <a:srgbClr val="457B9D">
                <a:alpha val="35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6002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1762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Python 3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2542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6B2"/>
                </a:solidFill>
              </a:rPr>
              <a:t>Core language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514600" y="1463040"/>
            <a:ext cx="1920240" cy="1417320"/>
          </a:xfrm>
          <a:prstGeom prst="rect">
            <a:avLst/>
          </a:prstGeom>
          <a:solidFill>
            <a:srgbClr val="152233"/>
          </a:solidFill>
          <a:ln w="12700">
            <a:solidFill>
              <a:srgbClr val="457B9D">
                <a:alpha val="35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160020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60320" y="21762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LightGBM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560320" y="2542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6B2"/>
                </a:solidFill>
              </a:rPr>
              <a:t>Primary model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663440" y="1463040"/>
            <a:ext cx="1920240" cy="1417320"/>
          </a:xfrm>
          <a:prstGeom prst="rect">
            <a:avLst/>
          </a:prstGeom>
          <a:solidFill>
            <a:srgbClr val="152233"/>
          </a:solidFill>
          <a:ln w="12700">
            <a:solidFill>
              <a:srgbClr val="457B9D">
                <a:alpha val="35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528" y="160020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09160" y="21762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XGBoost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709160" y="2542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6B2"/>
                </a:solidFill>
              </a:rPr>
              <a:t>Tuning baseline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6812280" y="1463040"/>
            <a:ext cx="1920240" cy="1417320"/>
          </a:xfrm>
          <a:prstGeom prst="rect">
            <a:avLst/>
          </a:prstGeom>
          <a:solidFill>
            <a:srgbClr val="152233"/>
          </a:solidFill>
          <a:ln w="12700">
            <a:solidFill>
              <a:srgbClr val="457B9D">
                <a:alpha val="35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368" y="160020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58000" y="21762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Optuna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858000" y="2542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6B2"/>
                </a:solidFill>
              </a:rPr>
              <a:t>Hyperparameter opt.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365760" y="3154680"/>
            <a:ext cx="1920240" cy="1417320"/>
          </a:xfrm>
          <a:prstGeom prst="rect">
            <a:avLst/>
          </a:prstGeom>
          <a:solidFill>
            <a:srgbClr val="152233"/>
          </a:solidFill>
          <a:ln w="12700">
            <a:solidFill>
              <a:srgbClr val="457B9D">
                <a:alpha val="35000"/>
              </a:srgbClr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3291840"/>
            <a:ext cx="502920" cy="5029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11480" y="38679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Scikit-learn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411480" y="4233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6B2"/>
                </a:solidFill>
              </a:rPr>
              <a:t>Preprocessing &amp; metrics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2514600" y="3154680"/>
            <a:ext cx="1920240" cy="1417320"/>
          </a:xfrm>
          <a:prstGeom prst="rect">
            <a:avLst/>
          </a:prstGeom>
          <a:solidFill>
            <a:srgbClr val="152233"/>
          </a:solidFill>
          <a:ln w="12700">
            <a:solidFill>
              <a:srgbClr val="457B9D">
                <a:alpha val="35000"/>
              </a:srgbClr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8688" y="3291840"/>
            <a:ext cx="502920" cy="5029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2560320" y="38679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Pandas / NumPy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2560320" y="4233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6B2"/>
                </a:solidFill>
              </a:rPr>
              <a:t>Data manipulation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4663440" y="3154680"/>
            <a:ext cx="1920240" cy="1417320"/>
          </a:xfrm>
          <a:prstGeom prst="rect">
            <a:avLst/>
          </a:prstGeom>
          <a:solidFill>
            <a:srgbClr val="152233"/>
          </a:solidFill>
          <a:ln w="12700">
            <a:solidFill>
              <a:srgbClr val="457B9D">
                <a:alpha val="35000"/>
              </a:srgbClr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7528" y="3291840"/>
            <a:ext cx="502920" cy="50292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4709160" y="38679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Matplotlib / Seaborn</a:t>
            </a:r>
            <a:endParaRPr lang="en-US" sz="1200" dirty="0"/>
          </a:p>
        </p:txBody>
      </p:sp>
      <p:sp>
        <p:nvSpPr>
          <p:cNvPr id="32" name="Text 23"/>
          <p:cNvSpPr/>
          <p:nvPr/>
        </p:nvSpPr>
        <p:spPr>
          <a:xfrm>
            <a:off x="4709160" y="4233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6B2"/>
                </a:solidFill>
              </a:rPr>
              <a:t>Visualizations</a:t>
            </a:r>
            <a:endParaRPr lang="en-US" sz="900" dirty="0"/>
          </a:p>
        </p:txBody>
      </p:sp>
      <p:sp>
        <p:nvSpPr>
          <p:cNvPr id="33" name="Shape 24"/>
          <p:cNvSpPr/>
          <p:nvPr/>
        </p:nvSpPr>
        <p:spPr>
          <a:xfrm>
            <a:off x="6812280" y="3154680"/>
            <a:ext cx="1920240" cy="1417320"/>
          </a:xfrm>
          <a:prstGeom prst="rect">
            <a:avLst/>
          </a:prstGeom>
          <a:solidFill>
            <a:srgbClr val="152233"/>
          </a:solidFill>
          <a:ln w="12700">
            <a:solidFill>
              <a:srgbClr val="457B9D">
                <a:alpha val="35000"/>
              </a:srgbClr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6368" y="3291840"/>
            <a:ext cx="502920" cy="50292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858000" y="38679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Google Colab T4</a:t>
            </a:r>
            <a:endParaRPr lang="en-US" sz="1200" dirty="0"/>
          </a:p>
        </p:txBody>
      </p:sp>
      <p:sp>
        <p:nvSpPr>
          <p:cNvPr id="36" name="Text 26"/>
          <p:cNvSpPr/>
          <p:nvPr/>
        </p:nvSpPr>
        <p:spPr>
          <a:xfrm>
            <a:off x="6858000" y="4233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6B2"/>
                </a:solidFill>
              </a:rPr>
              <a:t>GPU training env.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3716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27432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Key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Takeaways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82880" y="4114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CCCC"/>
                </a:solidFill>
              </a:rPr>
              <a:t>Heart Disease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CCCC"/>
                </a:solidFill>
              </a:rPr>
              <a:t>Prediction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457200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51960" y="43891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Large-Scale ML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251960" y="8229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</a:rPr>
              <a:t>Successfully trained on 630,000 records with stratified sampling to preserve class balance.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749040" y="1463040"/>
            <a:ext cx="5120640" cy="13716"/>
          </a:xfrm>
          <a:prstGeom prst="rect">
            <a:avLst/>
          </a:prstGeom>
          <a:solidFill>
            <a:srgbClr val="457B9D">
              <a:alpha val="45000"/>
            </a:srgbClr>
          </a:solidFill>
          <a:ln w="12700">
            <a:solidFill>
              <a:srgbClr val="457B9D">
                <a:alpha val="45000"/>
              </a:srgbClr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600200"/>
            <a:ext cx="384048" cy="3840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251960" y="158191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Strong Performance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4251960" y="19659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</a:rPr>
              <a:t>Achieved ~91% ROC-AUC using LightGBM with K-Fold cross-validation for reliable generalization.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3749040" y="2606040"/>
            <a:ext cx="5120640" cy="13716"/>
          </a:xfrm>
          <a:prstGeom prst="rect">
            <a:avLst/>
          </a:prstGeom>
          <a:solidFill>
            <a:srgbClr val="457B9D">
              <a:alpha val="45000"/>
            </a:srgbClr>
          </a:solidFill>
          <a:ln w="12700">
            <a:solidFill>
              <a:srgbClr val="457B9D">
                <a:alpha val="45000"/>
              </a:srgbClr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2743200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251960" y="272491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Smart Tuning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4251960" y="31089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</a:rPr>
              <a:t>Optuna's Bayesian search outperforms grid/random search for XGBoost hyperparameter optimization.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3749040" y="3749040"/>
            <a:ext cx="5120640" cy="13716"/>
          </a:xfrm>
          <a:prstGeom prst="rect">
            <a:avLst/>
          </a:prstGeom>
          <a:solidFill>
            <a:srgbClr val="457B9D">
              <a:alpha val="45000"/>
            </a:srgbClr>
          </a:solidFill>
          <a:ln w="12700">
            <a:solidFill>
              <a:srgbClr val="457B9D">
                <a:alpha val="45000"/>
              </a:srgbClr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3886200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251960" y="386791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Clinical Relevance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4251960" y="42519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</a:rPr>
              <a:t>Thallium scan &amp; vessel count emerged as top predictors — aligned with cardiology literature.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029200" cy="5029200"/>
          </a:xfrm>
          <a:prstGeom prst="ellipse">
            <a:avLst/>
          </a:prstGeom>
          <a:solidFill>
            <a:srgbClr val="E63946">
              <a:alpha val="8000"/>
            </a:srgbClr>
          </a:solidFill>
          <a:ln w="12700">
            <a:solidFill>
              <a:srgbClr val="E63946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828800"/>
            <a:ext cx="4114800" cy="4114800"/>
          </a:xfrm>
          <a:prstGeom prst="ellipse">
            <a:avLst/>
          </a:prstGeom>
          <a:solidFill>
            <a:srgbClr val="457B9D">
              <a:alpha val="12000"/>
            </a:srgbClr>
          </a:solidFill>
          <a:ln w="12700">
            <a:solidFill>
              <a:srgbClr val="457B9D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64008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4173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800" dirty="0"/>
          </a:p>
        </p:txBody>
      </p:sp>
      <p:sp>
        <p:nvSpPr>
          <p:cNvPr id="7" name="Text 4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8DADC"/>
                </a:solidFill>
              </a:rPr>
              <a:t>Predicting heart disease · Enabling early intervention · Saving lives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743200" y="3291840"/>
            <a:ext cx="3657600" cy="274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474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B2"/>
                </a:solidFill>
              </a:rPr>
              <a:t>Mohit Ranjan · LightGBM · XGBoost · Optuna · 630K Records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</a:rPr>
              <a:t>Open to collaborations &amp; feedback — connect on LinkedIn!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Disease Prediction — ML Project</dc:title>
  <dc:subject>PptxGenJS Presentation</dc:subject>
  <dc:creator>Mohit Ranjan</dc:creator>
  <cp:lastModifiedBy>Mohit Ranjan</cp:lastModifiedBy>
  <cp:revision>1</cp:revision>
  <dcterms:created xsi:type="dcterms:W3CDTF">2026-04-14T17:11:00Z</dcterms:created>
  <dcterms:modified xsi:type="dcterms:W3CDTF">2026-04-14T17:11:00Z</dcterms:modified>
</cp:coreProperties>
</file>